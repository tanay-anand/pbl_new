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9" r:id="rId3"/>
    <p:sldId id="264" r:id="rId4"/>
    <p:sldId id="265" r:id="rId5"/>
    <p:sldId id="261" r:id="rId6"/>
    <p:sldId id="260" r:id="rId7"/>
    <p:sldId id="266" r:id="rId8"/>
    <p:sldId id="267" r:id="rId9"/>
    <p:sldId id="262" r:id="rId10"/>
    <p:sldId id="263"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BF2E7-81B1-454F-99E2-032246843468}" v="8" dt="2026-04-13T20:53:12.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96F1-D7F9-1ECD-9727-11ACE61D23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12507E-6841-7221-BB87-3EC8C25D00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12D33-3DBA-69CD-460E-D63103682E47}"/>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2EC6B92D-2033-A153-AC40-41F3FB103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E41302-5A6E-4A64-63D9-CECFE18336DA}"/>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3376213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14A2-095F-8457-5D80-8482F7CF47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803EFB-CA40-8484-0B6F-6C79717D92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C828E-A244-C5ED-F55C-BFA1E03299E1}"/>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760FC4BD-F1F1-2849-C32E-B84B92A7F9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76F4FA-4A40-3C97-7D6A-D031DFBB7AAC}"/>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3647938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1F5E-BB79-AA45-B4E9-0BEC9CA51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482D5D-F04D-0FD5-04D1-E6E7134F61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01B748-FE31-1B5A-6C6A-EED9A8516CBF}"/>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26DFF1BD-D39C-7877-B38B-0441BC277A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85AFA5-0CA6-9C04-64C4-D0AE7EBA9105}"/>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3238139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05D3-896B-5E99-EE38-B1CB58481F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63849B-5969-3CA0-B79F-FD6D677CF4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F3146B-A963-7087-31F6-F9DF3C2AE9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698A6E-C7FA-0AB3-072E-93B76CF3F1C7}"/>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6" name="Footer Placeholder 5">
            <a:extLst>
              <a:ext uri="{FF2B5EF4-FFF2-40B4-BE49-F238E27FC236}">
                <a16:creationId xmlns:a16="http://schemas.microsoft.com/office/drawing/2014/main" id="{EDDD10F8-B4E7-1A65-C0BD-2C6EC4A5B9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47BF3-D84F-D74A-1B5E-A0200FC9123A}"/>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3421905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16BA7-9F9F-8295-75B5-C2FC4555AA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27460A-D346-2358-7D7C-48EB58C2CD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20661D-E634-95F4-A345-265C82461B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B673A8-7713-91BB-EA48-CAF208570A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036908-978A-B43C-D80D-F25AB6AAFA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2CF0FD-F812-7EDA-C908-F8DBAA880A44}"/>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8" name="Footer Placeholder 7">
            <a:extLst>
              <a:ext uri="{FF2B5EF4-FFF2-40B4-BE49-F238E27FC236}">
                <a16:creationId xmlns:a16="http://schemas.microsoft.com/office/drawing/2014/main" id="{334145E5-8556-FA10-0DE0-47472D825C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D4C6B7-3A3A-9ABB-BD01-75F9D054F748}"/>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1018362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18F1-1A90-B3D2-9BF8-BF423B7EEF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CCFF6D-C74B-BCE1-763F-074FB184F83D}"/>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4" name="Footer Placeholder 3">
            <a:extLst>
              <a:ext uri="{FF2B5EF4-FFF2-40B4-BE49-F238E27FC236}">
                <a16:creationId xmlns:a16="http://schemas.microsoft.com/office/drawing/2014/main" id="{CF3CEC42-29B8-2A51-8D98-20C955F7A3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38438A-5B73-D8CC-7185-91DB0B365513}"/>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55234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CF597C-3265-8A38-E74C-B2B65FEB04C7}"/>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3" name="Footer Placeholder 2">
            <a:extLst>
              <a:ext uri="{FF2B5EF4-FFF2-40B4-BE49-F238E27FC236}">
                <a16:creationId xmlns:a16="http://schemas.microsoft.com/office/drawing/2014/main" id="{2B7D38B1-A8C4-9AF1-387F-1025318469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48012A-DA75-D14D-E966-CF66CE4BD0F8}"/>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255247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DC60-7CF1-CA0D-6105-349CE10DAB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CF9FEE-E93A-1957-EEE5-9B2CE28A05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507992-943D-57EA-453C-9470B7BBF3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60575-FC72-89B5-ED83-70E80EE4A4A6}"/>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6" name="Footer Placeholder 5">
            <a:extLst>
              <a:ext uri="{FF2B5EF4-FFF2-40B4-BE49-F238E27FC236}">
                <a16:creationId xmlns:a16="http://schemas.microsoft.com/office/drawing/2014/main" id="{BC166D4C-DDC5-5110-ABFF-1C5D1DEED1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5032FF-54E3-86C4-6F09-5D0035D5451C}"/>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553897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DFD12-D2C9-CF86-3BD9-A7B1CFCEEA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31A98-EA16-2223-1CC8-D09CC1339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00C65BE-D620-C5B6-3DF8-54A70C616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09942-0B8C-A2E8-041B-11673641482A}"/>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6" name="Footer Placeholder 5">
            <a:extLst>
              <a:ext uri="{FF2B5EF4-FFF2-40B4-BE49-F238E27FC236}">
                <a16:creationId xmlns:a16="http://schemas.microsoft.com/office/drawing/2014/main" id="{53FFF1FB-3D62-68F1-601D-AF011F22E1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118B49-7BF8-2CD0-E8A1-468D713B3C92}"/>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1201012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765E-ED2E-1B90-5C08-469D0BE45B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522387-EE9E-8654-1120-3B797C992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D84F96-8EED-F82A-C33D-8C5071CDB700}"/>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02B39578-E454-6D00-09E9-E8708A52D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67952B-4EC2-7684-40D7-F82F39415977}"/>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2354528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06B9A-3350-3CA7-C0EF-A94A8B1B5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A51834-AFE6-2A2A-A0D7-A83EF2241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D1853C-126D-B2E5-CEE8-983759ACF0D9}"/>
              </a:ext>
            </a:extLst>
          </p:cNvPr>
          <p:cNvSpPr>
            <a:spLocks noGrp="1"/>
          </p:cNvSpPr>
          <p:nvPr>
            <p:ph type="dt" sz="half" idx="10"/>
          </p:nvPr>
        </p:nvSpPr>
        <p:spPr/>
        <p:txBody>
          <a:body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1F02F09B-76C6-801A-E065-200440BC0B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CA0B78-9637-8119-1CE9-5E8E16E05E03}"/>
              </a:ext>
            </a:extLst>
          </p:cNvPr>
          <p:cNvSpPr>
            <a:spLocks noGrp="1"/>
          </p:cNvSpPr>
          <p:nvPr>
            <p:ph type="sldNum" sz="quarter" idx="12"/>
          </p:nvPr>
        </p:nvSpPr>
        <p:spPr/>
        <p:txBody>
          <a:bodyPr/>
          <a:lstStyle/>
          <a:p>
            <a:fld id="{78CB3F90-BD42-49A7-8E5A-9889E7440D78}" type="slidenum">
              <a:rPr lang="en-IN" smtClean="0"/>
              <a:t>‹#›</a:t>
            </a:fld>
            <a:endParaRPr lang="en-IN"/>
          </a:p>
        </p:txBody>
      </p:sp>
    </p:spTree>
    <p:extLst>
      <p:ext uri="{BB962C8B-B14F-4D97-AF65-F5344CB8AC3E}">
        <p14:creationId xmlns:p14="http://schemas.microsoft.com/office/powerpoint/2010/main" val="2225755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D5F24-2C69-94EF-2537-C04C264FA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981B91-E648-823A-D762-209EEC5BF4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F92FB1-0E38-D60C-7920-F94ED8AB0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CD125C-6295-4371-9F18-F0BCCEE87553}" type="datetimeFigureOut">
              <a:rPr lang="en-IN" smtClean="0"/>
              <a:t>14-04-2026</a:t>
            </a:fld>
            <a:endParaRPr lang="en-IN"/>
          </a:p>
        </p:txBody>
      </p:sp>
      <p:sp>
        <p:nvSpPr>
          <p:cNvPr id="5" name="Footer Placeholder 4">
            <a:extLst>
              <a:ext uri="{FF2B5EF4-FFF2-40B4-BE49-F238E27FC236}">
                <a16:creationId xmlns:a16="http://schemas.microsoft.com/office/drawing/2014/main" id="{5792BDBC-6C98-F4A2-54DA-3F999848F8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72C8844-C400-F9BD-51DE-4C791FF13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CB3F90-BD42-49A7-8E5A-9889E7440D78}" type="slidenum">
              <a:rPr lang="en-IN" smtClean="0"/>
              <a:t>‹#›</a:t>
            </a:fld>
            <a:endParaRPr lang="en-IN"/>
          </a:p>
        </p:txBody>
      </p:sp>
    </p:spTree>
    <p:extLst>
      <p:ext uri="{BB962C8B-B14F-4D97-AF65-F5344CB8AC3E}">
        <p14:creationId xmlns:p14="http://schemas.microsoft.com/office/powerpoint/2010/main" val="4153293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934586"/>
            <a:ext cx="9144000" cy="978194"/>
          </a:xfrm>
        </p:spPr>
        <p:txBody>
          <a:bodyPr>
            <a:normAutofit/>
          </a:bodyPr>
          <a:lstStyle/>
          <a:p>
            <a:r>
              <a:rPr lang="en-US" altLang="en-IN" dirty="0"/>
              <a:t>IBOX-DEKSTOP ASSITANT</a:t>
            </a:r>
            <a:endParaRPr lang="en-IN" dirty="0"/>
          </a:p>
        </p:txBody>
      </p:sp>
      <p:sp>
        <p:nvSpPr>
          <p:cNvPr id="3" name="Subtitle 2"/>
          <p:cNvSpPr>
            <a:spLocks noGrp="1"/>
          </p:cNvSpPr>
          <p:nvPr>
            <p:ph type="subTitle" idx="1"/>
          </p:nvPr>
        </p:nvSpPr>
        <p:spPr>
          <a:xfrm>
            <a:off x="1077411" y="4890977"/>
            <a:ext cx="3239387" cy="1222744"/>
          </a:xfrm>
        </p:spPr>
        <p:txBody>
          <a:bodyPr>
            <a:normAutofit/>
          </a:bodyPr>
          <a:lstStyle/>
          <a:p>
            <a:r>
              <a:rPr lang="en-IN" dirty="0"/>
              <a:t>Submitted By:</a:t>
            </a:r>
            <a:br>
              <a:rPr lang="en-IN" dirty="0"/>
            </a:br>
            <a:r>
              <a:rPr lang="en-US" altLang="en-IN" dirty="0"/>
              <a:t>TANAY ANAND</a:t>
            </a:r>
            <a:endParaRPr lang="en-IN" dirty="0"/>
          </a:p>
          <a:p>
            <a:r>
              <a:rPr lang="en-US" altLang="en-IN" dirty="0"/>
              <a:t>23FE10CSEOO476</a:t>
            </a:r>
          </a:p>
        </p:txBody>
      </p:sp>
      <p:sp>
        <p:nvSpPr>
          <p:cNvPr id="4" name="Subtitle 2"/>
          <p:cNvSpPr txBox="1"/>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US" altLang="en-IN" dirty="0"/>
              <a:t>PROF.BALI DEVI</a:t>
            </a:r>
            <a:endParaRPr lang="en-IN" dirty="0"/>
          </a:p>
          <a:p>
            <a:endParaRPr lang="en-IN" dirty="0"/>
          </a:p>
        </p:txBody>
      </p:sp>
      <p:pic>
        <p:nvPicPr>
          <p:cNvPr id="8" name="Picture 7" descr="A black and white text&#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p:cNvSpPr txBox="1"/>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Outline</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CE50-3688-9979-84C3-B4A70AEBAED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B3B55C75-C889-A72C-7966-81BF221A67B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65586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D998-4AA9-8EB6-4FA4-86D83749A856}"/>
              </a:ext>
            </a:extLst>
          </p:cNvPr>
          <p:cNvSpPr>
            <a:spLocks noGrp="1"/>
          </p:cNvSpPr>
          <p:nvPr>
            <p:ph type="title"/>
          </p:nvPr>
        </p:nvSpPr>
        <p:spPr/>
        <p:txBody>
          <a:bodyPr>
            <a:normAutofit/>
          </a:bodyPr>
          <a:lstStyle/>
          <a:p>
            <a:r>
              <a:rPr lang="en-IN" b="1" i="1" dirty="0"/>
              <a:t> </a:t>
            </a:r>
            <a:r>
              <a:rPr lang="en-IN" b="1" dirty="0"/>
              <a:t>1. Introduction</a:t>
            </a:r>
            <a:br>
              <a:rPr lang="en-IN" dirty="0"/>
            </a:br>
            <a:endParaRPr lang="en-IN" dirty="0"/>
          </a:p>
        </p:txBody>
      </p:sp>
      <p:sp>
        <p:nvSpPr>
          <p:cNvPr id="3" name="Content Placeholder 2">
            <a:extLst>
              <a:ext uri="{FF2B5EF4-FFF2-40B4-BE49-F238E27FC236}">
                <a16:creationId xmlns:a16="http://schemas.microsoft.com/office/drawing/2014/main" id="{8BC85449-F535-3F27-5012-293F6CC3612E}"/>
              </a:ext>
            </a:extLst>
          </p:cNvPr>
          <p:cNvSpPr>
            <a:spLocks noGrp="1"/>
          </p:cNvSpPr>
          <p:nvPr>
            <p:ph idx="1"/>
          </p:nvPr>
        </p:nvSpPr>
        <p:spPr/>
        <p:txBody>
          <a:bodyPr>
            <a:normAutofit fontScale="62500" lnSpcReduction="20000"/>
          </a:bodyPr>
          <a:lstStyle/>
          <a:p>
            <a:r>
              <a:rPr lang="en-IN" b="1" dirty="0"/>
              <a:t>With the rapid advancement of technology, human-computer interaction has shifted toward more natural and intuitive methods. Voice-based systems (also known as voice assistants) aim to enable users to interact with machines using spoken language instead of traditional input methods like keyboards or touchscreens. Despite their growing popularity, several challenges still hinder their efficiency, accuracy, and usability.</a:t>
            </a:r>
            <a:endParaRPr lang="en-IN" dirty="0"/>
          </a:p>
          <a:p>
            <a:r>
              <a:rPr lang="en-IN" b="1" dirty="0"/>
              <a:t>Voice assistants are now widely used in smartphones, smart homes, automobiles, and customer service systems, making them an integral part of modern digital life. These systems rely on technologies such as speech recognition, natural language processing, and artificial intelligence to interpret and respond to user commands. The demand for hands-free and faster interaction has further accelerated their adoption across various domains.</a:t>
            </a:r>
            <a:endParaRPr lang="en-IN" dirty="0"/>
          </a:p>
          <a:p>
            <a:r>
              <a:rPr lang="en-IN" b="1" dirty="0"/>
              <a:t>However, variations in human speech patterns, including differences in accent, tone, language, and pronunciation, create significant challenges for these systems. Background noise and environmental disturbances also affect the performance of voice recognition systems. Additionally, understanding the context and intent behind user commands remains a complex task.</a:t>
            </a:r>
            <a:endParaRPr lang="en-IN" dirty="0"/>
          </a:p>
          <a:p>
            <a:r>
              <a:rPr lang="en-IN" b="1" dirty="0"/>
              <a:t>As a result, there is a growing need to develop more advanced and reliable voice-based systems that can overcome these limitations and provide seamless, accurate, and efficient user interaction.</a:t>
            </a:r>
            <a:endParaRPr lang="en-IN" dirty="0"/>
          </a:p>
          <a:p>
            <a:endParaRPr lang="en-IN" dirty="0"/>
          </a:p>
        </p:txBody>
      </p:sp>
    </p:spTree>
    <p:extLst>
      <p:ext uri="{BB962C8B-B14F-4D97-AF65-F5344CB8AC3E}">
        <p14:creationId xmlns:p14="http://schemas.microsoft.com/office/powerpoint/2010/main" val="2664338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Review</a:t>
            </a:r>
          </a:p>
        </p:txBody>
      </p:sp>
      <p:sp>
        <p:nvSpPr>
          <p:cNvPr id="3" name="Content Placeholder 2"/>
          <p:cNvSpPr>
            <a:spLocks noGrp="1"/>
          </p:cNvSpPr>
          <p:nvPr>
            <p:ph idx="1"/>
          </p:nvPr>
        </p:nvSpPr>
        <p:spPr/>
        <p:txBody>
          <a:bodyPr>
            <a:normAutofit fontScale="67500" lnSpcReduction="20000"/>
          </a:bodyPr>
          <a:lstStyle/>
          <a:p>
            <a:pPr marL="0" indent="0">
              <a:buNone/>
            </a:pPr>
            <a:r>
              <a:rPr lang="en-US" altLang="en-US" dirty="0"/>
              <a:t>Voice-based assistant systems have gained significant attention in recent years due to advancements in artificial intelligence, speech recognition, and natural language processing. Modern voice assistants such as Siri, Alexa, and Google Assistant have transformed human-computer interaction by enabling users to perform tasks through voice commands instead of traditional input devices.</a:t>
            </a:r>
          </a:p>
          <a:p>
            <a:pPr marL="0" indent="0">
              <a:buNone/>
            </a:pPr>
            <a:endParaRPr lang="en-US" altLang="en-US" dirty="0"/>
          </a:p>
          <a:p>
            <a:pPr marL="0" indent="0">
              <a:buNone/>
            </a:pPr>
            <a:r>
              <a:rPr lang="en-US" altLang="en-US" dirty="0"/>
              <a:t>Early research in this field focused on developing basic speech recognition systems that could understand a limited set of commands. Over time, these systems evolved into intelligent personal assistants (IPAs) capable of handling complex queries, contextual conversations, and multiple tasks. These systems combine technologies such as Automatic Speech Recognition (ASR), Natural Language Processing (NLP), and speech synthesis to provide meaningful responses.</a:t>
            </a:r>
          </a:p>
          <a:p>
            <a:pPr marL="0" indent="0">
              <a:buNone/>
            </a:pPr>
            <a:endParaRPr lang="en-US" altLang="en-US" dirty="0"/>
          </a:p>
          <a:p>
            <a:pPr marL="0" indent="0">
              <a:buNone/>
            </a:pPr>
            <a:r>
              <a:rPr lang="en-US" altLang="en-US" dirty="0"/>
              <a:t>Automatic Speech Recognition (ASR) plays a crucial role in voice assistants, as it converts spoken language into text. ASR systems use techniques from digital signal processing, machine learning, and linguistics to recognize speech accurately. Recent studies show that ASR has improved significantly and is widely used in applications such as education, healthcare, and robotics.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a:t>
            </a:r>
          </a:p>
        </p:txBody>
      </p:sp>
      <p:sp>
        <p:nvSpPr>
          <p:cNvPr id="3" name="Content Placeholder 2"/>
          <p:cNvSpPr>
            <a:spLocks noGrp="1"/>
          </p:cNvSpPr>
          <p:nvPr>
            <p:ph idx="1"/>
          </p:nvPr>
        </p:nvSpPr>
        <p:spPr/>
        <p:txBody>
          <a:bodyPr>
            <a:normAutofit fontScale="65000" lnSpcReduction="20000"/>
          </a:bodyPr>
          <a:lstStyle/>
          <a:p>
            <a:pPr marL="0" indent="0">
              <a:buNone/>
            </a:pPr>
            <a:r>
              <a:rPr lang="en-US" altLang="en-US" dirty="0"/>
              <a:t>The development of a voice-based assistant system aims to provide a seamless and efficient way for users to interact with machines using natural speech. However, designing such a system presents several technical and practical challenges that affect its overall performance and user experience.</a:t>
            </a:r>
          </a:p>
          <a:p>
            <a:pPr marL="0" indent="0">
              <a:buNone/>
            </a:pPr>
            <a:r>
              <a:rPr lang="en-US" altLang="en-US" dirty="0"/>
              <a:t>One of the major problems is the accuracy of speech recognition, as voice assistants often struggle to correctly interpret spoken words due to variations in accent, pronunciation, speech speed, and language differences. Background noise and environmental disturbances further degrade the system’s ability to capture and process user input effectively.</a:t>
            </a:r>
          </a:p>
          <a:p>
            <a:pPr marL="0" indent="0">
              <a:buNone/>
            </a:pPr>
            <a:endParaRPr lang="en-US" altLang="en-US" dirty="0"/>
          </a:p>
          <a:p>
            <a:pPr marL="0" indent="0">
              <a:buNone/>
            </a:pPr>
            <a:r>
              <a:rPr lang="en-US" altLang="en-US" dirty="0"/>
              <a:t>Another significant issue lies in understanding the intent and context of user commands. Voice-based systems may fail to interpret complex queries, ambiguous instructions, or conversational language, leading to incorrect or irrelevant responses. This limitation reduces the reliability and usefulness of the system in real-world applications.</a:t>
            </a:r>
          </a:p>
          <a:p>
            <a:pPr marL="0" indent="0">
              <a:buNone/>
            </a:pPr>
            <a:endParaRPr lang="en-US" altLang="en-US" dirty="0"/>
          </a:p>
          <a:p>
            <a:pPr marL="0" indent="0">
              <a:buNone/>
            </a:pPr>
            <a:r>
              <a:rPr lang="en-US" altLang="en-US" dirty="0"/>
              <a:t>Additionally, delays in processing and response generation can negatively impact user experience, especially in real-time applications. Some systems also depend heavily on internet connectivity, making them less effective in offline or low-network conditions. Integration with multiple applications and handling multiple commands simultaneously also remain challenging tasks.</a:t>
            </a:r>
          </a:p>
          <a:p>
            <a:pPr marL="0" indent="0">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36ED-420D-7C7B-1696-66B4B6AD02D5}"/>
              </a:ext>
            </a:extLst>
          </p:cNvPr>
          <p:cNvSpPr>
            <a:spLocks noGrp="1"/>
          </p:cNvSpPr>
          <p:nvPr>
            <p:ph type="title"/>
          </p:nvPr>
        </p:nvSpPr>
        <p:spPr/>
        <p:txBody>
          <a:bodyPr/>
          <a:lstStyle/>
          <a:p>
            <a:r>
              <a:rPr lang="en-US" dirty="0"/>
              <a:t>Solution</a:t>
            </a:r>
            <a:br>
              <a:rPr lang="en-US" dirty="0"/>
            </a:br>
            <a:endParaRPr lang="en-US" dirty="0"/>
          </a:p>
        </p:txBody>
      </p:sp>
      <p:sp>
        <p:nvSpPr>
          <p:cNvPr id="3" name="Content Placeholder 2">
            <a:extLst>
              <a:ext uri="{FF2B5EF4-FFF2-40B4-BE49-F238E27FC236}">
                <a16:creationId xmlns:a16="http://schemas.microsoft.com/office/drawing/2014/main" id="{0C3D92FC-C7D8-4219-29FF-836D5140EA11}"/>
              </a:ext>
            </a:extLst>
          </p:cNvPr>
          <p:cNvSpPr>
            <a:spLocks noGrp="1"/>
          </p:cNvSpPr>
          <p:nvPr>
            <p:ph idx="1"/>
          </p:nvPr>
        </p:nvSpPr>
        <p:spPr/>
        <p:txBody>
          <a:bodyPr>
            <a:normAutofit fontScale="62500" lnSpcReduction="20000"/>
          </a:bodyPr>
          <a:lstStyle/>
          <a:p>
            <a:r>
              <a:rPr lang="en-US" dirty="0"/>
              <a:t>The challenges associated with the development of a voice-based assistant system can be effectively addressed through the use of advanced technologies and optimized system design. One of the primary issues, speech recognition accuracy, can be improved by integrating robust speech recognition engines such as Google Speech Recognition and </a:t>
            </a:r>
            <a:r>
              <a:rPr lang="en-US" dirty="0" err="1"/>
              <a:t>DeepSpeech</a:t>
            </a:r>
            <a:r>
              <a:rPr lang="en-US" dirty="0"/>
              <a:t>. These systems are trained on large and diverse datasets, allowing them to better understand different accents, pronunciations, and speech patterns. Additionally, implementing noise reduction techniques and using high-quality microphones can significantly minimize the impact of background disturbances, thereby enhancing input accuracy.</a:t>
            </a:r>
          </a:p>
          <a:p>
            <a:r>
              <a:rPr lang="en-US" dirty="0"/>
              <a:t>Another critical challenge is understanding user intent and context. This can be resolved by incorporating advanced Natural Language Processing techniques. NLP enables the system to process and interpret human language more effectively. Libraries such as </a:t>
            </a:r>
            <a:r>
              <a:rPr lang="en-US" dirty="0" err="1"/>
              <a:t>spaCy</a:t>
            </a:r>
            <a:r>
              <a:rPr lang="en-US" dirty="0"/>
              <a:t> and NLTK can be used to implement intent recognition, entity extraction, and contextual understanding. By doing so, the assistant becomes capable of handling complex queries and conversational inputs, thereby improving its reliability and usefulness.</a:t>
            </a:r>
          </a:p>
          <a:p>
            <a:r>
              <a:rPr lang="en-US" dirty="0"/>
              <a:t>To address delays in processing and response generation, optimization techniques can be applied to the system. The use of multi-threading allows different processes, such as listening and responding, to run simultaneously, reducing waiting time. Furthermore, frequently used commands can be cached, and certain operations can be performed locally instead of relying entirely on cloud services, which helps in improving response speed.</a:t>
            </a:r>
          </a:p>
          <a:p>
            <a:endParaRPr lang="en-IN" dirty="0"/>
          </a:p>
        </p:txBody>
      </p:sp>
    </p:spTree>
    <p:extLst>
      <p:ext uri="{BB962C8B-B14F-4D97-AF65-F5344CB8AC3E}">
        <p14:creationId xmlns:p14="http://schemas.microsoft.com/office/powerpoint/2010/main" val="3580240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7E18-963A-2DF3-399F-2CA80CF97FDE}"/>
              </a:ext>
            </a:extLst>
          </p:cNvPr>
          <p:cNvSpPr>
            <a:spLocks noGrp="1"/>
          </p:cNvSpPr>
          <p:nvPr>
            <p:ph type="title"/>
          </p:nvPr>
        </p:nvSpPr>
        <p:spPr/>
        <p:txBody>
          <a:bodyPr/>
          <a:lstStyle/>
          <a:p>
            <a:r>
              <a:rPr lang="en-US" dirty="0"/>
              <a:t>Objective</a:t>
            </a:r>
            <a:br>
              <a:rPr lang="en-US" dirty="0"/>
            </a:br>
            <a:endParaRPr lang="en-IN" dirty="0"/>
          </a:p>
        </p:txBody>
      </p:sp>
      <p:sp>
        <p:nvSpPr>
          <p:cNvPr id="3" name="Content Placeholder 2">
            <a:extLst>
              <a:ext uri="{FF2B5EF4-FFF2-40B4-BE49-F238E27FC236}">
                <a16:creationId xmlns:a16="http://schemas.microsoft.com/office/drawing/2014/main" id="{E2B97135-DB99-2A75-E8A7-7C9D6EDEDBA3}"/>
              </a:ext>
            </a:extLst>
          </p:cNvPr>
          <p:cNvSpPr>
            <a:spLocks noGrp="1"/>
          </p:cNvSpPr>
          <p:nvPr>
            <p:ph idx="1"/>
          </p:nvPr>
        </p:nvSpPr>
        <p:spPr/>
        <p:txBody>
          <a:bodyPr>
            <a:normAutofit fontScale="77500" lnSpcReduction="20000"/>
          </a:bodyPr>
          <a:lstStyle/>
          <a:p>
            <a:r>
              <a:rPr lang="en-US" dirty="0"/>
              <a:t>The main objective of developing the voice-based assistant system is to create an intelligent and user-friendly platform that enables seamless interaction between humans and machines using natural speech. The system aims to eliminate the need for traditional input devices such as keyboards and mice by allowing users to perform various tasks through voice commands, thereby enhancing convenience and accessibility.</a:t>
            </a:r>
          </a:p>
          <a:p>
            <a:r>
              <a:rPr lang="en-US" dirty="0"/>
              <a:t>Another important objective is to design a system that can accurately recognize and interpret spoken language. By integrating speech recognition technologies such as Google Speech Recognition and applying Natural Language Processing techniques, the assistant is intended to understand user commands effectively and provide appropriate responses. This improves the overall efficiency and usability of the system.</a:t>
            </a:r>
          </a:p>
          <a:p>
            <a:r>
              <a:rPr lang="en-US" dirty="0"/>
              <a:t>The project also aims to automate routine tasks such as opening applications, searching information, telling time, and accessing web services. By doing so, it reduces manual effort and saves time, making daily interactions with computers more efficient. Additionally, the system focuses on providing real-time responses with minimal delay to ensure a smooth user experience</a:t>
            </a:r>
          </a:p>
          <a:p>
            <a:endParaRPr lang="en-IN" dirty="0"/>
          </a:p>
        </p:txBody>
      </p:sp>
    </p:spTree>
    <p:extLst>
      <p:ext uri="{BB962C8B-B14F-4D97-AF65-F5344CB8AC3E}">
        <p14:creationId xmlns:p14="http://schemas.microsoft.com/office/powerpoint/2010/main" val="3489523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Methodology </a:t>
            </a:r>
          </a:p>
        </p:txBody>
      </p:sp>
      <p:pic>
        <p:nvPicPr>
          <p:cNvPr id="767120330" name="Picture 1"/>
          <p:cNvPicPr>
            <a:picLocks noGrp="1" noChangeAspect="1"/>
          </p:cNvPicPr>
          <p:nvPr>
            <p:ph idx="1"/>
          </p:nvPr>
        </p:nvPicPr>
        <p:blipFill>
          <a:blip r:embed="rId2"/>
          <a:stretch>
            <a:fillRect/>
          </a:stretch>
        </p:blipFill>
        <p:spPr>
          <a:xfrm>
            <a:off x="3032760" y="1825625"/>
            <a:ext cx="6125845" cy="43516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a:bodyPr>
          <a:lstStyle/>
          <a:p>
            <a:pPr marL="0" indent="0">
              <a:buNone/>
            </a:pPr>
            <a:r>
              <a:rPr lang="en-US" altLang="en-US" dirty="0"/>
              <a:t>P. Darda and R. M. Chitnis, “Voice Assistant: A Systematic Literature Review,” Shodh Sarita Journal, vol. 7, no. 27, pp. 67–72, 2020.</a:t>
            </a:r>
          </a:p>
          <a:p>
            <a:pPr marL="0" indent="0">
              <a:buNone/>
            </a:pPr>
            <a:r>
              <a:rPr lang="en-US" altLang="en-US" dirty="0"/>
              <a:t>S. Alharbi et al., “Automatic Speech Recognition: Systematic Literature Review,” IEEE Access, 2021.</a:t>
            </a:r>
          </a:p>
          <a:p>
            <a:pPr marL="0" indent="0">
              <a:buNone/>
            </a:pPr>
            <a:r>
              <a:rPr lang="en-US" altLang="en-US" dirty="0"/>
              <a:t>A. Neupane, “Literature Survey on Natural Language Processing in Voice Assistants,” IJRASET, 2023.</a:t>
            </a:r>
          </a:p>
          <a:p>
            <a:pPr marL="0" indent="0">
              <a:buNone/>
            </a:pPr>
            <a:r>
              <a:rPr lang="en-US" altLang="en-US" dirty="0"/>
              <a:t>J. Santos et al., “Intelligent Personal Assistants: A Systematic Literature Review,” Expert Systems with Applications, vol. 147, 2020.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0358E-3B12-4B7E-7ACC-F30BB975CC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84A800-160B-19E4-F65B-FEB0C5A6CF57}"/>
              </a:ext>
            </a:extLst>
          </p:cNvPr>
          <p:cNvSpPr>
            <a:spLocks noGrp="1"/>
          </p:cNvSpPr>
          <p:nvPr>
            <p:ph idx="1"/>
          </p:nvPr>
        </p:nvSpPr>
        <p:spPr/>
        <p:txBody>
          <a:bodyPr/>
          <a:lstStyle/>
          <a:p>
            <a:r>
              <a:rPr lang="en-US"/>
              <a:t>THANK YOU</a:t>
            </a:r>
            <a:endParaRPr lang="en-IN"/>
          </a:p>
        </p:txBody>
      </p:sp>
    </p:spTree>
    <p:extLst>
      <p:ext uri="{BB962C8B-B14F-4D97-AF65-F5344CB8AC3E}">
        <p14:creationId xmlns:p14="http://schemas.microsoft.com/office/powerpoint/2010/main" val="1917475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1215</Words>
  <Application>Microsoft Office PowerPoint</Application>
  <PresentationFormat>Widescreen</PresentationFormat>
  <Paragraphs>46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Wingdings</vt:lpstr>
      <vt:lpstr>Aptos Display</vt:lpstr>
      <vt:lpstr>Arial</vt:lpstr>
      <vt:lpstr>Office Theme</vt:lpstr>
      <vt:lpstr>IBOX-DEKSTOP ASSITANT</vt:lpstr>
      <vt:lpstr>Outline</vt:lpstr>
      <vt:lpstr>PowerPoint Presentation</vt:lpstr>
      <vt:lpstr> 1. Introduction </vt:lpstr>
      <vt:lpstr>Literature Review</vt:lpstr>
      <vt:lpstr>Problem Statement</vt:lpstr>
      <vt:lpstr>Solution </vt:lpstr>
      <vt:lpstr>Objective </vt:lpstr>
      <vt:lpstr>Proposed Methodology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[BTECH-005-2023-24] TANAY ANAND</dc:creator>
  <cp:lastModifiedBy>[BTECH-005-2023-24] TANAY ANAND</cp:lastModifiedBy>
  <cp:revision>2</cp:revision>
  <dcterms:created xsi:type="dcterms:W3CDTF">2026-04-13T16:15:44Z</dcterms:created>
  <dcterms:modified xsi:type="dcterms:W3CDTF">2026-04-13T20:55:34Z</dcterms:modified>
</cp:coreProperties>
</file>